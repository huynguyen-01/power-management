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b65be8ff94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b65be8ff94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b65be8ff94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b65be8ff94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b65be8ff94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b65be8ff94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b65be8ff94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b65be8ff94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vi"/>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2.png"/><Relationship Id="rId6"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209950" y="230925"/>
            <a:ext cx="8723100" cy="108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vi" sz="1200">
                <a:solidFill>
                  <a:schemeClr val="dk1"/>
                </a:solidFill>
              </a:rPr>
              <a:t>1) Battery input and DCDC converter schematics </a:t>
            </a:r>
            <a:endParaRPr sz="1200">
              <a:solidFill>
                <a:schemeClr val="dk1"/>
              </a:solidFill>
            </a:endParaRPr>
          </a:p>
          <a:p>
            <a:pPr indent="457200" lvl="0" marL="0" rtl="0" algn="l">
              <a:spcBef>
                <a:spcPts val="0"/>
              </a:spcBef>
              <a:spcAft>
                <a:spcPts val="0"/>
              </a:spcAft>
              <a:buNone/>
            </a:pPr>
            <a:r>
              <a:rPr lang="vi" sz="1200">
                <a:solidFill>
                  <a:schemeClr val="dk1"/>
                </a:solidFill>
              </a:rPr>
              <a:t>a. Suggest 12V DCDC converter output current limit to be reduced to 14A. Mode 2 resistor to change to 200K. </a:t>
            </a:r>
            <a:endParaRPr sz="1200">
              <a:solidFill>
                <a:schemeClr val="dk1"/>
              </a:solidFill>
            </a:endParaRPr>
          </a:p>
          <a:p>
            <a:pPr indent="457200" lvl="0" marL="0" rtl="0" algn="l">
              <a:spcBef>
                <a:spcPts val="0"/>
              </a:spcBef>
              <a:spcAft>
                <a:spcPts val="0"/>
              </a:spcAft>
              <a:buNone/>
            </a:pPr>
            <a:r>
              <a:rPr lang="vi" sz="1200">
                <a:solidFill>
                  <a:schemeClr val="dk1"/>
                </a:solidFill>
              </a:rPr>
              <a:t>b. 12V DCDC converter 22uF low ESR capacitors to be increased from 11 to 12. </a:t>
            </a:r>
            <a:endParaRPr sz="1200">
              <a:solidFill>
                <a:schemeClr val="dk1"/>
              </a:solidFill>
            </a:endParaRPr>
          </a:p>
          <a:p>
            <a:pPr indent="0" lvl="0" marL="457200" rtl="0" algn="l">
              <a:spcBef>
                <a:spcPts val="0"/>
              </a:spcBef>
              <a:spcAft>
                <a:spcPts val="0"/>
              </a:spcAft>
              <a:buNone/>
            </a:pPr>
            <a:r>
              <a:rPr lang="vi" sz="1200">
                <a:solidFill>
                  <a:schemeClr val="dk1"/>
                </a:solidFill>
              </a:rPr>
              <a:t>c. Board output connector (TE 640388-3) mating header (TE 2132189-3) crimps are only rated at 6.5A. Any alternatives? Or should we use solder pads on this board, with a higher rated on the connector expansion board? </a:t>
            </a:r>
            <a:endParaRPr sz="1200">
              <a:solidFill>
                <a:schemeClr val="dk1"/>
              </a:solidFill>
            </a:endParaRPr>
          </a:p>
        </p:txBody>
      </p:sp>
      <p:sp>
        <p:nvSpPr>
          <p:cNvPr id="55" name="Google Shape;55;p13"/>
          <p:cNvSpPr txBox="1"/>
          <p:nvPr/>
        </p:nvSpPr>
        <p:spPr>
          <a:xfrm>
            <a:off x="210450" y="1579950"/>
            <a:ext cx="8723100" cy="148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vi" sz="1200">
                <a:solidFill>
                  <a:srgbClr val="0000FF"/>
                </a:solidFill>
              </a:rPr>
              <a:t>→ 1a: I will adjust it</a:t>
            </a:r>
            <a:endParaRPr sz="1200">
              <a:solidFill>
                <a:srgbClr val="0000FF"/>
              </a:solidFill>
            </a:endParaRPr>
          </a:p>
          <a:p>
            <a:pPr indent="0" lvl="0" marL="0" rtl="0" algn="l">
              <a:spcBef>
                <a:spcPts val="0"/>
              </a:spcBef>
              <a:spcAft>
                <a:spcPts val="0"/>
              </a:spcAft>
              <a:buNone/>
            </a:pPr>
            <a:r>
              <a:rPr lang="vi" sz="1200">
                <a:solidFill>
                  <a:srgbClr val="0000FF"/>
                </a:solidFill>
              </a:rPr>
              <a:t>1b: I will add it</a:t>
            </a:r>
            <a:endParaRPr sz="1200">
              <a:solidFill>
                <a:srgbClr val="0000FF"/>
              </a:solidFill>
            </a:endParaRPr>
          </a:p>
          <a:p>
            <a:pPr indent="0" lvl="0" marL="0" rtl="0" algn="l">
              <a:spcBef>
                <a:spcPts val="0"/>
              </a:spcBef>
              <a:spcAft>
                <a:spcPts val="0"/>
              </a:spcAft>
              <a:buNone/>
            </a:pPr>
            <a:r>
              <a:rPr lang="vi" sz="1200">
                <a:solidFill>
                  <a:srgbClr val="0000FF"/>
                </a:solidFill>
              </a:rPr>
              <a:t>1c: Yes, you're right. I didn't check the crimps. I've found a more suitable option from Molex:</a:t>
            </a:r>
            <a:endParaRPr sz="1200">
              <a:solidFill>
                <a:srgbClr val="0000FF"/>
              </a:solidFill>
            </a:endParaRPr>
          </a:p>
          <a:p>
            <a:pPr indent="0" lvl="0" marL="0" rtl="0" algn="l">
              <a:spcBef>
                <a:spcPts val="0"/>
              </a:spcBef>
              <a:spcAft>
                <a:spcPts val="0"/>
              </a:spcAft>
              <a:buNone/>
            </a:pPr>
            <a:r>
              <a:rPr lang="vi" sz="1200">
                <a:solidFill>
                  <a:srgbClr val="0000FF"/>
                </a:solidFill>
              </a:rPr>
              <a:t>	Header: 2165711003</a:t>
            </a:r>
            <a:endParaRPr sz="1200">
              <a:solidFill>
                <a:srgbClr val="0000FF"/>
              </a:solidFill>
            </a:endParaRPr>
          </a:p>
          <a:p>
            <a:pPr indent="0" lvl="0" marL="0" rtl="0" algn="l">
              <a:spcBef>
                <a:spcPts val="0"/>
              </a:spcBef>
              <a:spcAft>
                <a:spcPts val="0"/>
              </a:spcAft>
              <a:buNone/>
            </a:pPr>
            <a:r>
              <a:rPr lang="vi" sz="1200">
                <a:solidFill>
                  <a:srgbClr val="0000FF"/>
                </a:solidFill>
              </a:rPr>
              <a:t>	Housing:2157591003 </a:t>
            </a:r>
            <a:endParaRPr sz="1200">
              <a:solidFill>
                <a:srgbClr val="0000FF"/>
              </a:solidFill>
            </a:endParaRPr>
          </a:p>
          <a:p>
            <a:pPr indent="0" lvl="0" marL="0" rtl="0" algn="l">
              <a:spcBef>
                <a:spcPts val="0"/>
              </a:spcBef>
              <a:spcAft>
                <a:spcPts val="0"/>
              </a:spcAft>
              <a:buNone/>
            </a:pPr>
            <a:r>
              <a:rPr lang="vi" sz="1200">
                <a:solidFill>
                  <a:srgbClr val="0000FF"/>
                </a:solidFill>
              </a:rPr>
              <a:t>	Crimp: 2064600041</a:t>
            </a:r>
            <a:endParaRPr sz="1200">
              <a:solidFill>
                <a:srgbClr val="0000FF"/>
              </a:solidFill>
            </a:endParaRPr>
          </a:p>
          <a:p>
            <a:pPr indent="0" lvl="0" marL="0" rtl="0" algn="l">
              <a:spcBef>
                <a:spcPts val="0"/>
              </a:spcBef>
              <a:spcAft>
                <a:spcPts val="0"/>
              </a:spcAft>
              <a:buNone/>
            </a:pPr>
            <a:r>
              <a:t/>
            </a:r>
            <a:endParaRPr sz="1200">
              <a:solidFill>
                <a:srgbClr val="0000FF"/>
              </a:solidFill>
            </a:endParaRPr>
          </a:p>
        </p:txBody>
      </p:sp>
      <p:pic>
        <p:nvPicPr>
          <p:cNvPr id="56" name="Google Shape;56;p13"/>
          <p:cNvPicPr preferRelativeResize="0"/>
          <p:nvPr/>
        </p:nvPicPr>
        <p:blipFill>
          <a:blip r:embed="rId3">
            <a:alphaModFix/>
          </a:blip>
          <a:stretch>
            <a:fillRect/>
          </a:stretch>
        </p:blipFill>
        <p:spPr>
          <a:xfrm>
            <a:off x="425350" y="2897475"/>
            <a:ext cx="1389341" cy="1364425"/>
          </a:xfrm>
          <a:prstGeom prst="rect">
            <a:avLst/>
          </a:prstGeom>
          <a:noFill/>
          <a:ln>
            <a:noFill/>
          </a:ln>
        </p:spPr>
      </p:pic>
      <p:pic>
        <p:nvPicPr>
          <p:cNvPr id="57" name="Google Shape;57;p13"/>
          <p:cNvPicPr preferRelativeResize="0"/>
          <p:nvPr/>
        </p:nvPicPr>
        <p:blipFill>
          <a:blip r:embed="rId4">
            <a:alphaModFix/>
          </a:blip>
          <a:stretch>
            <a:fillRect/>
          </a:stretch>
        </p:blipFill>
        <p:spPr>
          <a:xfrm>
            <a:off x="2698498" y="2986350"/>
            <a:ext cx="1847925" cy="1364425"/>
          </a:xfrm>
          <a:prstGeom prst="rect">
            <a:avLst/>
          </a:prstGeom>
          <a:noFill/>
          <a:ln>
            <a:noFill/>
          </a:ln>
        </p:spPr>
      </p:pic>
      <p:pic>
        <p:nvPicPr>
          <p:cNvPr id="58" name="Google Shape;58;p13"/>
          <p:cNvPicPr preferRelativeResize="0"/>
          <p:nvPr/>
        </p:nvPicPr>
        <p:blipFill>
          <a:blip r:embed="rId5">
            <a:alphaModFix/>
          </a:blip>
          <a:stretch>
            <a:fillRect/>
          </a:stretch>
        </p:blipFill>
        <p:spPr>
          <a:xfrm>
            <a:off x="425347" y="4209725"/>
            <a:ext cx="1720507" cy="586800"/>
          </a:xfrm>
          <a:prstGeom prst="rect">
            <a:avLst/>
          </a:prstGeom>
          <a:noFill/>
          <a:ln>
            <a:noFill/>
          </a:ln>
        </p:spPr>
      </p:pic>
      <p:pic>
        <p:nvPicPr>
          <p:cNvPr id="59" name="Google Shape;59;p13"/>
          <p:cNvPicPr preferRelativeResize="0"/>
          <p:nvPr/>
        </p:nvPicPr>
        <p:blipFill>
          <a:blip r:embed="rId6">
            <a:alphaModFix/>
          </a:blip>
          <a:stretch>
            <a:fillRect/>
          </a:stretch>
        </p:blipFill>
        <p:spPr>
          <a:xfrm>
            <a:off x="5177799" y="3175600"/>
            <a:ext cx="2007720" cy="10863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txBox="1"/>
          <p:nvPr/>
        </p:nvSpPr>
        <p:spPr>
          <a:xfrm>
            <a:off x="78750" y="404150"/>
            <a:ext cx="8723100" cy="10863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AutoNum type="alphaLcPeriod"/>
            </a:pPr>
            <a:r>
              <a:rPr lang="vi" sz="1200">
                <a:solidFill>
                  <a:schemeClr val="dk1"/>
                </a:solidFill>
              </a:rPr>
              <a:t>Winch output uses TPS1HC30BQPWPRQ1. IC is rated at 5A with a continuous output of 4.5A, and maximum current limit of 12A. Nominal operating current is feasible to be 5A. </a:t>
            </a:r>
            <a:endParaRPr sz="1200">
              <a:solidFill>
                <a:schemeClr val="dk1"/>
              </a:solidFill>
            </a:endParaRPr>
          </a:p>
          <a:p>
            <a:pPr indent="457200" lvl="0" marL="457200" rtl="0" algn="l">
              <a:spcBef>
                <a:spcPts val="0"/>
              </a:spcBef>
              <a:spcAft>
                <a:spcPts val="0"/>
              </a:spcAft>
              <a:buNone/>
            </a:pPr>
            <a:r>
              <a:rPr lang="vi" sz="1200">
                <a:solidFill>
                  <a:schemeClr val="dk1"/>
                </a:solidFill>
              </a:rPr>
              <a:t>i. Efuse on Winch appears to be trickier than anticipated. Suggest we revert to no e-fuse and current limit to 14amp on 12v dcdc IC on power management </a:t>
            </a:r>
            <a:endParaRPr sz="1200">
              <a:solidFill>
                <a:schemeClr val="dk1"/>
              </a:solidFill>
            </a:endParaRPr>
          </a:p>
        </p:txBody>
      </p:sp>
      <p:sp>
        <p:nvSpPr>
          <p:cNvPr id="65" name="Google Shape;65;p14"/>
          <p:cNvSpPr txBox="1"/>
          <p:nvPr/>
        </p:nvSpPr>
        <p:spPr>
          <a:xfrm>
            <a:off x="0" y="1327875"/>
            <a:ext cx="8723100" cy="59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vi" sz="1200">
                <a:solidFill>
                  <a:srgbClr val="0000FF"/>
                </a:solidFill>
              </a:rPr>
              <a:t>→ 2.a.i: </a:t>
            </a:r>
            <a:r>
              <a:rPr lang="vi" sz="1100">
                <a:solidFill>
                  <a:srgbClr val="0000FF"/>
                </a:solidFill>
              </a:rPr>
              <a:t>In my opinion, we should not rely on the DC-DC block to provide over-current protection for the winch. For the </a:t>
            </a:r>
            <a:r>
              <a:rPr b="1" lang="vi" sz="1100">
                <a:solidFill>
                  <a:srgbClr val="0000FF"/>
                </a:solidFill>
              </a:rPr>
              <a:t>TPS1HC30BQPWPRQ1</a:t>
            </a:r>
            <a:r>
              <a:rPr lang="vi" sz="1100">
                <a:solidFill>
                  <a:srgbClr val="0000FF"/>
                </a:solidFill>
              </a:rPr>
              <a:t>, I have already configured the current limit to </a:t>
            </a:r>
            <a:r>
              <a:rPr b="1" lang="vi" sz="1100">
                <a:solidFill>
                  <a:srgbClr val="0000FF"/>
                </a:solidFill>
              </a:rPr>
              <a:t>7A</a:t>
            </a:r>
            <a:r>
              <a:rPr lang="vi" sz="1100">
                <a:solidFill>
                  <a:srgbClr val="0000FF"/>
                </a:solidFill>
              </a:rPr>
              <a:t>, so the winch output is protected at the load switch level.</a:t>
            </a:r>
            <a:endParaRPr sz="1200">
              <a:solidFill>
                <a:srgbClr val="0000FF"/>
              </a:solidFill>
            </a:endParaRPr>
          </a:p>
        </p:txBody>
      </p:sp>
      <p:sp>
        <p:nvSpPr>
          <p:cNvPr id="66" name="Google Shape;66;p14"/>
          <p:cNvSpPr txBox="1"/>
          <p:nvPr/>
        </p:nvSpPr>
        <p:spPr>
          <a:xfrm>
            <a:off x="257400" y="52700"/>
            <a:ext cx="8723100" cy="30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vi" sz="1200">
                <a:solidFill>
                  <a:schemeClr val="dk1"/>
                </a:solidFill>
              </a:rPr>
              <a:t>2) Output connector board and e-Fuse schematic</a:t>
            </a:r>
            <a:endParaRPr sz="1200">
              <a:solidFill>
                <a:schemeClr val="dk1"/>
              </a:solidFill>
            </a:endParaRPr>
          </a:p>
        </p:txBody>
      </p:sp>
      <p:pic>
        <p:nvPicPr>
          <p:cNvPr id="67" name="Google Shape;67;p14"/>
          <p:cNvPicPr preferRelativeResize="0"/>
          <p:nvPr/>
        </p:nvPicPr>
        <p:blipFill>
          <a:blip r:embed="rId3">
            <a:alphaModFix/>
          </a:blip>
          <a:stretch>
            <a:fillRect/>
          </a:stretch>
        </p:blipFill>
        <p:spPr>
          <a:xfrm>
            <a:off x="5091000" y="1926075"/>
            <a:ext cx="3773798" cy="1622224"/>
          </a:xfrm>
          <a:prstGeom prst="rect">
            <a:avLst/>
          </a:prstGeom>
          <a:noFill/>
          <a:ln>
            <a:noFill/>
          </a:ln>
        </p:spPr>
      </p:pic>
      <p:sp>
        <p:nvSpPr>
          <p:cNvPr id="68" name="Google Shape;68;p14"/>
          <p:cNvSpPr/>
          <p:nvPr/>
        </p:nvSpPr>
        <p:spPr>
          <a:xfrm>
            <a:off x="7714969" y="2752187"/>
            <a:ext cx="915300" cy="617400"/>
          </a:xfrm>
          <a:prstGeom prst="ellipse">
            <a:avLst/>
          </a:prstGeom>
          <a:noFill/>
          <a:ln cap="flat" cmpd="sng" w="7725">
            <a:solidFill>
              <a:srgbClr val="FF0000"/>
            </a:solidFill>
            <a:prstDash val="solid"/>
            <a:round/>
            <a:headEnd len="sm" w="sm" type="none"/>
            <a:tailEnd len="sm" w="sm" type="none"/>
          </a:ln>
        </p:spPr>
        <p:txBody>
          <a:bodyPr anchorCtr="0" anchor="ctr" bIns="74175" lIns="74175" spcFirstLastPara="1" rIns="74175" wrap="square" tIns="74175">
            <a:noAutofit/>
          </a:bodyPr>
          <a:lstStyle/>
          <a:p>
            <a:pPr indent="0" lvl="0" marL="0" rtl="0" algn="ctr">
              <a:spcBef>
                <a:spcPts val="0"/>
              </a:spcBef>
              <a:spcAft>
                <a:spcPts val="0"/>
              </a:spcAft>
              <a:buNone/>
            </a:pPr>
            <a:r>
              <a:t/>
            </a:r>
            <a:endParaRPr sz="1135"/>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5"/>
          <p:cNvSpPr txBox="1"/>
          <p:nvPr/>
        </p:nvSpPr>
        <p:spPr>
          <a:xfrm>
            <a:off x="78750" y="404150"/>
            <a:ext cx="8723100" cy="13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vi" sz="1200">
                <a:solidFill>
                  <a:schemeClr val="dk1"/>
                </a:solidFill>
              </a:rPr>
              <a:t>b. 	Overvoltage protection (OVP) is implemented all outputs except the Reel output. As the main DCDC converters have </a:t>
            </a:r>
            <a:r>
              <a:rPr lang="vi" sz="1200">
                <a:solidFill>
                  <a:schemeClr val="dk1"/>
                </a:solidFill>
              </a:rPr>
              <a:t>overvoltage protection, the requirement for additional overvoltage protection may not be required. 12V DCDC converter will shut down if output voltage exceeds 14.5V, which is close to 14.04V selected on output board. The 5V DCDC converter shuts down at 6V output, thus the 7.04V protection on the output board will never operate.</a:t>
            </a:r>
            <a:endParaRPr sz="1200">
              <a:solidFill>
                <a:schemeClr val="dk1"/>
              </a:solidFill>
            </a:endParaRPr>
          </a:p>
          <a:p>
            <a:pPr indent="0" lvl="0" marL="457200" rtl="0" algn="l">
              <a:spcBef>
                <a:spcPts val="0"/>
              </a:spcBef>
              <a:spcAft>
                <a:spcPts val="0"/>
              </a:spcAft>
              <a:buNone/>
            </a:pPr>
            <a:r>
              <a:rPr lang="vi" sz="1200">
                <a:solidFill>
                  <a:schemeClr val="dk1"/>
                </a:solidFill>
              </a:rPr>
              <a:t>i. 	</a:t>
            </a:r>
            <a:r>
              <a:rPr lang="vi" sz="1200">
                <a:solidFill>
                  <a:schemeClr val="dk1"/>
                </a:solidFill>
              </a:rPr>
              <a:t>Should we just have 1 set of divider resistors for 12v and 5v each. Then feed signal to all 5v efuses and 12v efuses. Don’t think you we can leave overvoltage pins unconnected, may need to double check datasheets. </a:t>
            </a:r>
            <a:endParaRPr sz="1200">
              <a:solidFill>
                <a:schemeClr val="dk1"/>
              </a:solidFill>
            </a:endParaRPr>
          </a:p>
        </p:txBody>
      </p:sp>
      <p:sp>
        <p:nvSpPr>
          <p:cNvPr id="74" name="Google Shape;74;p15"/>
          <p:cNvSpPr txBox="1"/>
          <p:nvPr/>
        </p:nvSpPr>
        <p:spPr>
          <a:xfrm>
            <a:off x="78750" y="1779200"/>
            <a:ext cx="8723100" cy="59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vi" sz="1100">
                <a:solidFill>
                  <a:srgbClr val="0000FF"/>
                </a:solidFill>
              </a:rPr>
              <a:t>→ 2.b: I understand. However, it seems I will switch to a different IC, TI’s TPS259571DSGR.</a:t>
            </a:r>
            <a:endParaRPr sz="1200">
              <a:solidFill>
                <a:srgbClr val="0000FF"/>
              </a:solidFill>
            </a:endParaRPr>
          </a:p>
        </p:txBody>
      </p:sp>
      <p:sp>
        <p:nvSpPr>
          <p:cNvPr id="75" name="Google Shape;75;p15"/>
          <p:cNvSpPr txBox="1"/>
          <p:nvPr/>
        </p:nvSpPr>
        <p:spPr>
          <a:xfrm>
            <a:off x="257400" y="52700"/>
            <a:ext cx="8723100" cy="30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vi" sz="1200">
                <a:solidFill>
                  <a:schemeClr val="dk1"/>
                </a:solidFill>
              </a:rPr>
              <a:t>2) Output connector board and e-Fuse schematic</a:t>
            </a:r>
            <a:endParaRPr sz="12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nvSpPr>
        <p:spPr>
          <a:xfrm>
            <a:off x="78750" y="404150"/>
            <a:ext cx="8723100" cy="6192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None/>
            </a:pPr>
            <a:r>
              <a:rPr lang="vi" sz="1200">
                <a:solidFill>
                  <a:schemeClr val="dk1"/>
                </a:solidFill>
              </a:rPr>
              <a:t>c. SIP32433ADN-T1E4 used is of latching type. If operated, power must be removed and restored to reset output, not ideal behaviour</a:t>
            </a:r>
            <a:endParaRPr sz="1200">
              <a:solidFill>
                <a:schemeClr val="dk1"/>
              </a:solidFill>
            </a:endParaRPr>
          </a:p>
        </p:txBody>
      </p:sp>
      <p:sp>
        <p:nvSpPr>
          <p:cNvPr id="81" name="Google Shape;81;p16"/>
          <p:cNvSpPr txBox="1"/>
          <p:nvPr/>
        </p:nvSpPr>
        <p:spPr>
          <a:xfrm>
            <a:off x="78750" y="955375"/>
            <a:ext cx="8723100" cy="78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vi" sz="1200">
                <a:solidFill>
                  <a:srgbClr val="0000FF"/>
                </a:solidFill>
              </a:rPr>
              <a:t>→ 2.c: </a:t>
            </a:r>
            <a:r>
              <a:rPr lang="vi" sz="1100">
                <a:solidFill>
                  <a:srgbClr val="0000FF"/>
                </a:solidFill>
              </a:rPr>
              <a:t>The auto-retry version of the SIP32433ADN-T1E4 IC is almost out of stock across most distributors. I think I will switch to TI’s eFuse TPS259571DSGR instead.</a:t>
            </a:r>
            <a:endParaRPr sz="1100">
              <a:solidFill>
                <a:srgbClr val="0000FF"/>
              </a:solidFill>
            </a:endParaRPr>
          </a:p>
          <a:p>
            <a:pPr indent="0" lvl="0" marL="0" rtl="0" algn="l">
              <a:lnSpc>
                <a:spcPct val="115000"/>
              </a:lnSpc>
              <a:spcBef>
                <a:spcPts val="1200"/>
              </a:spcBef>
              <a:spcAft>
                <a:spcPts val="0"/>
              </a:spcAft>
              <a:buClr>
                <a:schemeClr val="dk1"/>
              </a:buClr>
              <a:buSzPts val="1100"/>
              <a:buFont typeface="Arial"/>
              <a:buNone/>
            </a:pPr>
            <a:r>
              <a:rPr lang="vi" sz="1100">
                <a:solidFill>
                  <a:srgbClr val="0000FF"/>
                </a:solidFill>
              </a:rPr>
              <a:t>It meets the required specifications, and I do not plan to use its UVLO feature.</a:t>
            </a:r>
            <a:endParaRPr sz="1100">
              <a:solidFill>
                <a:srgbClr val="0000FF"/>
              </a:solidFill>
            </a:endParaRPr>
          </a:p>
          <a:p>
            <a:pPr indent="0" lvl="0" marL="0" rtl="0" algn="l">
              <a:spcBef>
                <a:spcPts val="1200"/>
              </a:spcBef>
              <a:spcAft>
                <a:spcPts val="0"/>
              </a:spcAft>
              <a:buNone/>
            </a:pPr>
            <a:r>
              <a:t/>
            </a:r>
            <a:endParaRPr sz="1100">
              <a:solidFill>
                <a:srgbClr val="0000FF"/>
              </a:solidFill>
            </a:endParaRPr>
          </a:p>
        </p:txBody>
      </p:sp>
      <p:sp>
        <p:nvSpPr>
          <p:cNvPr id="82" name="Google Shape;82;p16"/>
          <p:cNvSpPr txBox="1"/>
          <p:nvPr/>
        </p:nvSpPr>
        <p:spPr>
          <a:xfrm>
            <a:off x="257400" y="52700"/>
            <a:ext cx="8723100" cy="30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vi" sz="1200">
                <a:solidFill>
                  <a:schemeClr val="dk1"/>
                </a:solidFill>
              </a:rPr>
              <a:t>2) Output connector board and e-Fuse schematic</a:t>
            </a:r>
            <a:endParaRPr sz="1200">
              <a:solidFill>
                <a:schemeClr val="dk1"/>
              </a:solidFill>
            </a:endParaRPr>
          </a:p>
        </p:txBody>
      </p:sp>
      <p:pic>
        <p:nvPicPr>
          <p:cNvPr id="83" name="Google Shape;83;p16"/>
          <p:cNvPicPr preferRelativeResize="0"/>
          <p:nvPr/>
        </p:nvPicPr>
        <p:blipFill>
          <a:blip r:embed="rId3">
            <a:alphaModFix/>
          </a:blip>
          <a:stretch>
            <a:fillRect/>
          </a:stretch>
        </p:blipFill>
        <p:spPr>
          <a:xfrm>
            <a:off x="845200" y="1826725"/>
            <a:ext cx="7393478" cy="30961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7"/>
          <p:cNvSpPr txBox="1"/>
          <p:nvPr/>
        </p:nvSpPr>
        <p:spPr>
          <a:xfrm>
            <a:off x="78750" y="404150"/>
            <a:ext cx="8723100" cy="6192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None/>
            </a:pPr>
            <a:r>
              <a:rPr lang="vi" sz="1200">
                <a:solidFill>
                  <a:schemeClr val="dk1"/>
                </a:solidFill>
              </a:rPr>
              <a:t>d. Spare output appears misspelled as Square1.</a:t>
            </a:r>
            <a:endParaRPr sz="1200">
              <a:solidFill>
                <a:schemeClr val="dk1"/>
              </a:solidFill>
            </a:endParaRPr>
          </a:p>
        </p:txBody>
      </p:sp>
      <p:sp>
        <p:nvSpPr>
          <p:cNvPr id="89" name="Google Shape;89;p17"/>
          <p:cNvSpPr txBox="1"/>
          <p:nvPr/>
        </p:nvSpPr>
        <p:spPr>
          <a:xfrm>
            <a:off x="78750" y="955375"/>
            <a:ext cx="8723100" cy="34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vi" sz="1200">
                <a:solidFill>
                  <a:srgbClr val="0000FF"/>
                </a:solidFill>
              </a:rPr>
              <a:t>→ 2.d: </a:t>
            </a:r>
            <a:r>
              <a:rPr lang="vi" sz="1100">
                <a:solidFill>
                  <a:srgbClr val="0000FF"/>
                </a:solidFill>
              </a:rPr>
              <a:t>I will fix it.</a:t>
            </a:r>
            <a:endParaRPr sz="1100">
              <a:solidFill>
                <a:srgbClr val="0000FF"/>
              </a:solidFill>
            </a:endParaRPr>
          </a:p>
          <a:p>
            <a:pPr indent="0" lvl="0" marL="0" rtl="0" algn="l">
              <a:spcBef>
                <a:spcPts val="0"/>
              </a:spcBef>
              <a:spcAft>
                <a:spcPts val="0"/>
              </a:spcAft>
              <a:buNone/>
            </a:pPr>
            <a:r>
              <a:t/>
            </a:r>
            <a:endParaRPr sz="1100">
              <a:solidFill>
                <a:srgbClr val="0000FF"/>
              </a:solidFill>
            </a:endParaRPr>
          </a:p>
        </p:txBody>
      </p:sp>
      <p:sp>
        <p:nvSpPr>
          <p:cNvPr id="90" name="Google Shape;90;p17"/>
          <p:cNvSpPr txBox="1"/>
          <p:nvPr/>
        </p:nvSpPr>
        <p:spPr>
          <a:xfrm>
            <a:off x="257400" y="52700"/>
            <a:ext cx="8723100" cy="30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vi" sz="1200">
                <a:solidFill>
                  <a:schemeClr val="dk1"/>
                </a:solidFill>
              </a:rPr>
              <a:t>2) Output connector board and e-Fuse schematic</a:t>
            </a:r>
            <a:endParaRPr sz="1200">
              <a:solidFill>
                <a:schemeClr val="dk1"/>
              </a:solidFill>
            </a:endParaRPr>
          </a:p>
        </p:txBody>
      </p:sp>
      <p:sp>
        <p:nvSpPr>
          <p:cNvPr id="91" name="Google Shape;91;p17"/>
          <p:cNvSpPr txBox="1"/>
          <p:nvPr/>
        </p:nvSpPr>
        <p:spPr>
          <a:xfrm>
            <a:off x="173425" y="1301575"/>
            <a:ext cx="8723100" cy="6192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None/>
            </a:pPr>
            <a:r>
              <a:rPr lang="vi" sz="1200">
                <a:solidFill>
                  <a:schemeClr val="dk1"/>
                </a:solidFill>
              </a:rPr>
              <a:t>e</a:t>
            </a:r>
            <a:r>
              <a:rPr lang="vi" sz="1200">
                <a:solidFill>
                  <a:schemeClr val="dk1"/>
                </a:solidFill>
              </a:rPr>
              <a:t>. </a:t>
            </a:r>
            <a:r>
              <a:rPr lang="vi" sz="1200">
                <a:solidFill>
                  <a:schemeClr val="dk1"/>
                </a:solidFill>
              </a:rPr>
              <a:t>Digikey part number for 12V PCB connectors needs updating to 900-1723103302-ND.</a:t>
            </a:r>
            <a:endParaRPr sz="1200">
              <a:solidFill>
                <a:schemeClr val="dk1"/>
              </a:solidFill>
            </a:endParaRPr>
          </a:p>
        </p:txBody>
      </p:sp>
      <p:sp>
        <p:nvSpPr>
          <p:cNvPr id="92" name="Google Shape;92;p17"/>
          <p:cNvSpPr txBox="1"/>
          <p:nvPr/>
        </p:nvSpPr>
        <p:spPr>
          <a:xfrm>
            <a:off x="78750" y="1695425"/>
            <a:ext cx="8723100" cy="59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vi" sz="1200">
                <a:solidFill>
                  <a:srgbClr val="0000FF"/>
                </a:solidFill>
              </a:rPr>
              <a:t>→ 2.e:</a:t>
            </a:r>
            <a:r>
              <a:rPr lang="vi" sz="1100">
                <a:solidFill>
                  <a:srgbClr val="0000FF"/>
                </a:solidFill>
              </a:rPr>
              <a:t>900-1723103302-ND is out of stock at Digi-Key.</a:t>
            </a:r>
            <a:endParaRPr sz="1100">
              <a:solidFill>
                <a:srgbClr val="0000FF"/>
              </a:solidFill>
            </a:endParaRPr>
          </a:p>
          <a:p>
            <a:pPr indent="0" lvl="0" marL="0" rtl="0" algn="l">
              <a:spcBef>
                <a:spcPts val="0"/>
              </a:spcBef>
              <a:spcAft>
                <a:spcPts val="0"/>
              </a:spcAft>
              <a:buNone/>
            </a:pPr>
            <a:r>
              <a:rPr lang="vi" sz="1100">
                <a:solidFill>
                  <a:srgbClr val="0000FF"/>
                </a:solidFill>
              </a:rPr>
              <a:t>I think using 900-1723103102-ND should be fine. The difference is that 900-1723103302-ND has 0.78 µm gold (Au) plating.</a:t>
            </a:r>
            <a:endParaRPr sz="1200">
              <a:solidFill>
                <a:srgbClr val="0000FF"/>
              </a:solidFill>
            </a:endParaRPr>
          </a:p>
          <a:p>
            <a:pPr indent="0" lvl="0" marL="0" rtl="0" algn="l">
              <a:spcBef>
                <a:spcPts val="0"/>
              </a:spcBef>
              <a:spcAft>
                <a:spcPts val="0"/>
              </a:spcAft>
              <a:buNone/>
            </a:pPr>
            <a:r>
              <a:t/>
            </a:r>
            <a:endParaRPr sz="1100">
              <a:solidFill>
                <a:srgbClr val="0000FF"/>
              </a:solidFill>
            </a:endParaRPr>
          </a:p>
        </p:txBody>
      </p:sp>
      <p:sp>
        <p:nvSpPr>
          <p:cNvPr id="93" name="Google Shape;93;p17"/>
          <p:cNvSpPr txBox="1"/>
          <p:nvPr/>
        </p:nvSpPr>
        <p:spPr>
          <a:xfrm>
            <a:off x="115700" y="2262150"/>
            <a:ext cx="8723100" cy="8607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None/>
            </a:pPr>
            <a:r>
              <a:rPr lang="vi" sz="1200">
                <a:solidFill>
                  <a:schemeClr val="dk1"/>
                </a:solidFill>
              </a:rPr>
              <a:t>f</a:t>
            </a:r>
            <a:r>
              <a:rPr lang="vi" sz="1200">
                <a:solidFill>
                  <a:schemeClr val="dk1"/>
                </a:solidFill>
              </a:rPr>
              <a:t>. </a:t>
            </a:r>
            <a:r>
              <a:rPr lang="vi" sz="1200">
                <a:solidFill>
                  <a:schemeClr val="dk1"/>
                </a:solidFill>
              </a:rPr>
              <a:t>Board input connector (TE 640388-3) mating header (TE 2132189-3) crimps are only rated at 6.5A. Suggest a connector combination with a higher current capacity is used. </a:t>
            </a:r>
            <a:endParaRPr sz="1200">
              <a:solidFill>
                <a:schemeClr val="dk1"/>
              </a:solidFill>
            </a:endParaRPr>
          </a:p>
          <a:p>
            <a:pPr indent="457200" lvl="0" marL="457200" rtl="0" algn="l">
              <a:spcBef>
                <a:spcPts val="0"/>
              </a:spcBef>
              <a:spcAft>
                <a:spcPts val="0"/>
              </a:spcAft>
              <a:buNone/>
            </a:pPr>
            <a:r>
              <a:rPr lang="vi" sz="1200">
                <a:solidFill>
                  <a:schemeClr val="dk1"/>
                </a:solidFill>
              </a:rPr>
              <a:t>i. This should be a right-angled connector, whereas the power management board should be vertical. </a:t>
            </a:r>
            <a:endParaRPr sz="1200">
              <a:solidFill>
                <a:schemeClr val="dk1"/>
              </a:solidFill>
            </a:endParaRPr>
          </a:p>
          <a:p>
            <a:pPr indent="457200" lvl="0" marL="914400" rtl="0" algn="l">
              <a:spcBef>
                <a:spcPts val="0"/>
              </a:spcBef>
              <a:spcAft>
                <a:spcPts val="0"/>
              </a:spcAft>
              <a:buNone/>
            </a:pPr>
            <a:r>
              <a:rPr lang="vi" sz="1200">
                <a:solidFill>
                  <a:schemeClr val="dk1"/>
                </a:solidFill>
              </a:rPr>
              <a:t>1. Refer to 1c. Prefer to have connector on this board as more room</a:t>
            </a:r>
            <a:endParaRPr sz="1200">
              <a:solidFill>
                <a:schemeClr val="dk1"/>
              </a:solidFill>
            </a:endParaRPr>
          </a:p>
        </p:txBody>
      </p:sp>
      <p:sp>
        <p:nvSpPr>
          <p:cNvPr id="94" name="Google Shape;94;p17"/>
          <p:cNvSpPr txBox="1"/>
          <p:nvPr/>
        </p:nvSpPr>
        <p:spPr>
          <a:xfrm>
            <a:off x="78750" y="3122850"/>
            <a:ext cx="8723100" cy="59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vi" sz="1200">
                <a:solidFill>
                  <a:srgbClr val="0000FF"/>
                </a:solidFill>
              </a:rPr>
              <a:t>→ 2.f:</a:t>
            </a:r>
            <a:r>
              <a:rPr lang="vi" sz="1100">
                <a:solidFill>
                  <a:srgbClr val="0000FF"/>
                </a:solidFill>
              </a:rPr>
              <a:t>Please use the connector specified in item 1c.</a:t>
            </a:r>
            <a:endParaRPr sz="1100">
              <a:solidFill>
                <a:srgbClr val="0000FF"/>
              </a:solidFill>
            </a:endParaRPr>
          </a:p>
          <a:p>
            <a:pPr indent="0" lvl="0" marL="0" rtl="0" algn="l">
              <a:spcBef>
                <a:spcPts val="0"/>
              </a:spcBef>
              <a:spcAft>
                <a:spcPts val="0"/>
              </a:spcAft>
              <a:buNone/>
            </a:pPr>
            <a:r>
              <a:rPr lang="vi" sz="1100">
                <a:solidFill>
                  <a:srgbClr val="0000FF"/>
                </a:solidFill>
              </a:rPr>
              <a:t>The right-angled version, part 2157601003, can be used.</a:t>
            </a:r>
            <a:r>
              <a:rPr lang="vi" sz="1100">
                <a:solidFill>
                  <a:srgbClr val="0000FF"/>
                </a:solidFill>
              </a:rPr>
              <a:t>.</a:t>
            </a:r>
            <a:endParaRPr sz="1200">
              <a:solidFill>
                <a:srgbClr val="0000FF"/>
              </a:solidFill>
            </a:endParaRPr>
          </a:p>
          <a:p>
            <a:pPr indent="0" lvl="0" marL="0" rtl="0" algn="l">
              <a:spcBef>
                <a:spcPts val="0"/>
              </a:spcBef>
              <a:spcAft>
                <a:spcPts val="0"/>
              </a:spcAft>
              <a:buNone/>
            </a:pPr>
            <a:r>
              <a:t/>
            </a:r>
            <a:endParaRPr sz="1100">
              <a:solidFill>
                <a:srgbClr val="0000FF"/>
              </a:solidFill>
            </a:endParaRPr>
          </a:p>
        </p:txBody>
      </p:sp>
      <p:sp>
        <p:nvSpPr>
          <p:cNvPr id="95" name="Google Shape;95;p17"/>
          <p:cNvSpPr txBox="1"/>
          <p:nvPr/>
        </p:nvSpPr>
        <p:spPr>
          <a:xfrm>
            <a:off x="78750" y="3626750"/>
            <a:ext cx="8723100" cy="3831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None/>
            </a:pPr>
            <a:r>
              <a:rPr lang="vi" sz="1200">
                <a:solidFill>
                  <a:schemeClr val="dk1"/>
                </a:solidFill>
              </a:rPr>
              <a:t>g</a:t>
            </a:r>
            <a:r>
              <a:rPr lang="vi" sz="1200">
                <a:solidFill>
                  <a:schemeClr val="dk1"/>
                </a:solidFill>
              </a:rPr>
              <a:t>. </a:t>
            </a:r>
            <a:r>
              <a:rPr lang="vi" sz="1200">
                <a:solidFill>
                  <a:schemeClr val="dk1"/>
                </a:solidFill>
              </a:rPr>
              <a:t>Schematic mentions use of E92 series 1% resistors. This should be E96 series?</a:t>
            </a:r>
            <a:endParaRPr sz="1200">
              <a:solidFill>
                <a:schemeClr val="dk1"/>
              </a:solidFill>
            </a:endParaRPr>
          </a:p>
        </p:txBody>
      </p:sp>
      <p:sp>
        <p:nvSpPr>
          <p:cNvPr id="96" name="Google Shape;96;p17"/>
          <p:cNvSpPr txBox="1"/>
          <p:nvPr/>
        </p:nvSpPr>
        <p:spPr>
          <a:xfrm>
            <a:off x="115700" y="4009850"/>
            <a:ext cx="8723100" cy="59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vi" sz="1200">
                <a:solidFill>
                  <a:srgbClr val="0000FF"/>
                </a:solidFill>
              </a:rPr>
              <a:t>→ </a:t>
            </a:r>
            <a:r>
              <a:rPr lang="vi" sz="1200">
                <a:solidFill>
                  <a:srgbClr val="0000FF"/>
                </a:solidFill>
              </a:rPr>
              <a:t>2.g:</a:t>
            </a:r>
            <a:r>
              <a:rPr lang="vi" sz="1100">
                <a:solidFill>
                  <a:srgbClr val="0000FF"/>
                </a:solidFill>
              </a:rPr>
              <a:t>Yes, that’s correct — it belongs to the E96 series</a:t>
            </a:r>
            <a:endParaRPr sz="1200">
              <a:solidFill>
                <a:srgbClr val="0000FF"/>
              </a:solidFill>
            </a:endParaRPr>
          </a:p>
          <a:p>
            <a:pPr indent="0" lvl="0" marL="0" rtl="0" algn="l">
              <a:spcBef>
                <a:spcPts val="0"/>
              </a:spcBef>
              <a:spcAft>
                <a:spcPts val="0"/>
              </a:spcAft>
              <a:buNone/>
            </a:pPr>
            <a:r>
              <a:t/>
            </a:r>
            <a:endParaRPr sz="1100">
              <a:solidFill>
                <a:srgbClr val="0000FF"/>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